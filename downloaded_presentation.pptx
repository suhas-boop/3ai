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Today, we're discussing Python, a language I created back in 1991. Its design focuses on simplicity and readability, which has made it a favorite in many fields like web development and data science. I'm excited to share how Python,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is widely adopted in modern applications. In data science and ML, it's used in 68% of projects due to powerful libraries like Pandas, TensorFlow, and Scikit-learn. For web development, frameworks such as Django and Flask make building apps eff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thrives on its cross-platform nature, a rich standard library, and robust integration capabilities, making it a preferred choice for developers.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6416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d32d7a1b-a3cb-463b-8cd0-921c6f1e3d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6416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1866900"/>
            <a:ext cx="6731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Python Programming: An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4577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813300"/>
            <a:ext cx="673100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Python, created by Guido van Rossum in 1991, is a high-level, interpreted language praised for its simplicity and readability. Its versatility enables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34400" y="6184900"/>
            <a:ext cx="6705600" cy="1295400"/>
          </a:xfrm>
          <a:prstGeom prst="roundRect">
            <a:avLst>
              <a:gd name="adj" fmla="val 784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/>
            </a:solidFill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1900" y="6527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28100" y="6680200"/>
            <a:ext cx="482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1">
                <a:solidFill>
                  <a:srgbClr val="FFFFFF"/>
                </a:solidFill>
                <a:latin typeface="Inter"/>
              </a:defRPr>
            </a:pPr>
            <a:r>
              <a:rPr i="0" sz="1600" b="1">
                <a:solidFill>
                  <a:srgbClr val="FFFFFF"/>
                </a:solidFill>
                <a:latin typeface="Inter"/>
              </a:rPr>
              <a:t>GVR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4700" y="6502400"/>
            <a:ext cx="20828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Guido van Rossum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4700" y="6858000"/>
            <a:ext cx="2082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2026-02-13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d03f27-010d-4b46-84cb-4b674c7213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" cy="9144000"/>
          </a:xfrm>
          <a:prstGeom prst="rect">
            <a:avLst/>
          </a:prstGeom>
        </p:spPr>
      </p:pic>
      <p:pic>
        <p:nvPicPr>
          <p:cNvPr id="3" name="Picture 2" descr="7c61264d-3571-419b-a12a-3e74118e9c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18400"/>
            <a:ext cx="2438400" cy="1625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609600"/>
            <a:ext cx="8966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7200" b="1">
                <a:solidFill>
                  <a:srgbClr val="111827"/>
                </a:solidFill>
                <a:latin typeface="Inter"/>
              </a:defRPr>
            </a:pPr>
            <a:r>
              <a:rPr i="0" sz="7200" b="1">
                <a:solidFill>
                  <a:srgbClr val="111827"/>
                </a:solidFill>
                <a:latin typeface="Inter"/>
              </a:rPr>
              <a:t>Python in Modern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19200" y="4737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94822bcf-6695-448d-80ce-f9f4c68edf9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902200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32000" y="4737100"/>
            <a:ext cx="7747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Data Science &amp;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2000" y="5143500"/>
            <a:ext cx="77470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68% of ML projects use Python (2025 survey).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9200" y="6146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0" name="Picture 9" descr="926627c1-d865-4a9c-8cc9-a7a7b812de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6311900"/>
            <a:ext cx="3048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32000" y="6146800"/>
            <a:ext cx="7747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Web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2000" y="6553200"/>
            <a:ext cx="77470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Popular frameworks like Django and Flask enable rapid development.</a:t>
            </a:r>
          </a:p>
        </p:txBody>
      </p:sp>
      <p:pic>
        <p:nvPicPr>
          <p:cNvPr id="13" name="Picture 12" descr="4a9230e2-82fc-4f6c-ab8d-8ee958b1b60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27200" y="1016000"/>
            <a:ext cx="406400" cy="406400"/>
          </a:xfrm>
          <a:prstGeom prst="rect">
            <a:avLst/>
          </a:prstGeom>
        </p:spPr>
      </p:pic>
      <p:pic>
        <p:nvPicPr>
          <p:cNvPr id="14" name="Picture 13" descr="611c4356-29d1-4821-9a7f-468e6bb89e5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9600" y="1422400"/>
            <a:ext cx="1016000" cy="254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363200" y="2641600"/>
            <a:ext cx="48768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6" name="Picture 15" descr="0a2d1dd6-38c9-4893-9b32-2429b1bed7a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3200" y="2641600"/>
            <a:ext cx="48768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d03f27-010d-4b46-84cb-4b674c7213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" cy="9144000"/>
          </a:xfrm>
          <a:prstGeom prst="rect">
            <a:avLst/>
          </a:prstGeom>
        </p:spPr>
      </p:pic>
      <p:pic>
        <p:nvPicPr>
          <p:cNvPr id="3" name="Picture 2" descr="7c61264d-3571-419b-a12a-3e74118e9c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18400"/>
            <a:ext cx="2438400" cy="1625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609600"/>
            <a:ext cx="8966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7200" b="1">
                <a:solidFill>
                  <a:srgbClr val="111827"/>
                </a:solidFill>
                <a:latin typeface="Inter"/>
              </a:defRPr>
            </a:pPr>
            <a:r>
              <a:rPr i="0" sz="7200" b="1">
                <a:solidFill>
                  <a:srgbClr val="111827"/>
                </a:solidFill>
                <a:latin typeface="Inter"/>
              </a:rPr>
              <a:t>Python Ecosystem and Community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19200" y="4419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ff46453c-ff36-4f24-9ea5-5335dcef3b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584700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32000" y="4419600"/>
            <a:ext cx="31242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Cross-platform compatibility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2000" y="5181600"/>
            <a:ext cx="3124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Supports Windows, macOS, and Linux.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0" y="4419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0" name="Picture 9" descr="cb4b403a-3e63-4f4f-ab1d-559ee6db936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400" y="4584700"/>
            <a:ext cx="3048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54800" y="4419600"/>
            <a:ext cx="3124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Extensive standard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4800" y="4826000"/>
            <a:ext cx="31242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Includes over 200 built-in modules for diverse tasks.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19200" y="61849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4" name="Picture 13" descr="6bc1fed5-620e-4666-9f01-d42a74647bc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633730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32000" y="6184900"/>
            <a:ext cx="3124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Integration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2000" y="6591300"/>
            <a:ext cx="31242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Seamlessly integrates with C/C++, Java, and other languages.</a:t>
            </a:r>
          </a:p>
        </p:txBody>
      </p:sp>
      <p:pic>
        <p:nvPicPr>
          <p:cNvPr id="17" name="Picture 16" descr="4a9230e2-82fc-4f6c-ab8d-8ee958b1b60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27200" y="1016000"/>
            <a:ext cx="406400" cy="406400"/>
          </a:xfrm>
          <a:prstGeom prst="rect">
            <a:avLst/>
          </a:prstGeom>
        </p:spPr>
      </p:pic>
      <p:pic>
        <p:nvPicPr>
          <p:cNvPr id="18" name="Picture 17" descr="611c4356-29d1-4821-9a7f-468e6bb89e5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9600" y="1422400"/>
            <a:ext cx="1016000" cy="2540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363200" y="2641600"/>
            <a:ext cx="48768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0" name="Picture 19" descr="0a2d1dd6-38c9-4893-9b32-2429b1bed7a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63200" y="2641600"/>
            <a:ext cx="4876800" cy="406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